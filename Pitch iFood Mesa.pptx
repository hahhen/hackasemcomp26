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ebo Bold" charset="1" panose="00000800000000000000"/>
      <p:regular r:id="rId15"/>
    </p:embeddedFont>
    <p:embeddedFont>
      <p:font typeface="Heebo" charset="1" panose="00000500000000000000"/>
      <p:regular r:id="rId16"/>
    </p:embeddedFont>
    <p:embeddedFont>
      <p:font typeface="Heebo Medium" charset="1" panose="00000600000000000000"/>
      <p:regular r:id="rId17"/>
    </p:embeddedFont>
    <p:embeddedFont>
      <p:font typeface="Heebo Ultra-Bold" charset="1" panose="00000900000000000000"/>
      <p:regular r:id="rId18"/>
    </p:embeddedFont>
    <p:embeddedFont>
      <p:font typeface="Open Sans Bold" charset="1" panose="020B08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google.com/url?sa=t&amp;source=web&amp;rct=j&amp;url=https%3A%2F%2Fimagensfree.com.br%2Ficone-ifood%2F&amp;ved=0CBcQjRxqFwoTCNDnttXCw5cDFQAAAAAdAAAAABA4&amp;opi=89978449" TargetMode="External" Type="http://schemas.openxmlformats.org/officeDocument/2006/relationships/hyperlink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15" Target="../media/image39.png" Type="http://schemas.openxmlformats.org/officeDocument/2006/relationships/image"/><Relationship Id="rId16" Target="../media/image40.png" Type="http://schemas.openxmlformats.org/officeDocument/2006/relationships/image"/><Relationship Id="rId17" Target="../media/image41.pn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jpeg" Type="http://schemas.openxmlformats.org/officeDocument/2006/relationships/image"/><Relationship Id="rId4" Target="../media/image45.jpeg" Type="http://schemas.openxmlformats.org/officeDocument/2006/relationships/image"/><Relationship Id="rId5" Target="../media/image4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google.com/url?sa=t&amp;source=web&amp;rct=j&amp;url=https%3A%2F%2Fimagensfree.com.br%2Ficone-ifood%2F&amp;ved=0CBcQjRxqFwoTCNDnttXCw5cDFQAAAAAdAAAAABA4&amp;opi=89978449" TargetMode="External" Type="http://schemas.openxmlformats.org/officeDocument/2006/relationships/hyperlink"/><Relationship Id="rId3" Target="../media/image47.jpeg" Type="http://schemas.openxmlformats.org/officeDocument/2006/relationships/image"/><Relationship Id="rId4" Target="../media/VAHYXqaDeNk.mp4" Type="http://schemas.openxmlformats.org/officeDocument/2006/relationships/video"/><Relationship Id="rId5" Target="../media/VAHYXqaDeNk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jpeg" Type="http://schemas.openxmlformats.org/officeDocument/2006/relationships/image"/><Relationship Id="rId5" Target="../media/image51.jpeg" Type="http://schemas.openxmlformats.org/officeDocument/2006/relationships/image"/><Relationship Id="rId6" Target="../media/image52.jpeg" Type="http://schemas.openxmlformats.org/officeDocument/2006/relationships/image"/><Relationship Id="rId7" Target="../media/image5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415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92969" y="0"/>
            <a:ext cx="14612151" cy="10959114"/>
            <a:chOff x="0" y="0"/>
            <a:chExt cx="812800" cy="609600"/>
          </a:xfrm>
        </p:grpSpPr>
        <p:sp>
          <p:nvSpPr>
            <p:cNvPr name="Freeform 6" id="6">
              <a:hlinkClick r:id="rId2" tooltip="https://www.google.com/url?sa=t&amp;source=web&amp;rct=j&amp;url=https%3A%2F%2Fimagensfree.com.br%2Ficone-ifood%2F&amp;ved=0CBcQjRxqFwoTCNDnttXCw5cDFQAAAAAdAAAAABA4&amp;opi=89978449"/>
            </p:cNvPr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639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609600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047435" y="3266538"/>
            <a:ext cx="7499645" cy="3962694"/>
          </a:xfrm>
          <a:custGeom>
            <a:avLst/>
            <a:gdLst/>
            <a:ahLst/>
            <a:cxnLst/>
            <a:rect r="r" b="b" t="t" l="l"/>
            <a:pathLst>
              <a:path h="3962694" w="7499645">
                <a:moveTo>
                  <a:pt x="0" y="0"/>
                </a:moveTo>
                <a:lnTo>
                  <a:pt x="7499645" y="0"/>
                </a:lnTo>
                <a:lnTo>
                  <a:pt x="7499645" y="3962695"/>
                </a:lnTo>
                <a:lnTo>
                  <a:pt x="0" y="39626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8291" y="1694410"/>
            <a:ext cx="5538093" cy="227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3"/>
              </a:lnSpc>
            </a:pPr>
            <a:r>
              <a:rPr lang="en-US" sz="9845" spc="-197" b="true">
                <a:solidFill>
                  <a:srgbClr val="F6F6F6"/>
                </a:solidFill>
                <a:latin typeface="Heebo Bold"/>
                <a:ea typeface="Heebo Bold"/>
                <a:cs typeface="Heebo Bold"/>
                <a:sym typeface="Heebo Bold"/>
              </a:rPr>
              <a:t>Sudo Win apresenta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7921" y="4037438"/>
            <a:ext cx="6575127" cy="121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6"/>
              </a:lnSpc>
            </a:pPr>
            <a:r>
              <a:rPr lang="en-US" sz="10054" spc="-201" b="true">
                <a:solidFill>
                  <a:srgbClr val="E63935"/>
                </a:solidFill>
                <a:latin typeface="Heebo Bold"/>
                <a:ea typeface="Heebo Bold"/>
                <a:cs typeface="Heebo Bold"/>
                <a:sym typeface="Heebo Bold"/>
              </a:rPr>
              <a:t>iFood Mesa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1782" y="5850436"/>
            <a:ext cx="5188990" cy="118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4122">
                <a:solidFill>
                  <a:srgbClr val="F6F6F6"/>
                </a:solidFill>
                <a:latin typeface="Heebo"/>
                <a:ea typeface="Heebo"/>
                <a:cs typeface="Heebo"/>
                <a:sym typeface="Heebo"/>
              </a:rPr>
              <a:t>Todo mundo escolhe.</a:t>
            </a:r>
          </a:p>
          <a:p>
            <a:pPr algn="l">
              <a:lnSpc>
                <a:spcPts val="4741"/>
              </a:lnSpc>
            </a:pPr>
            <a:r>
              <a:rPr lang="en-US" sz="4122">
                <a:solidFill>
                  <a:srgbClr val="E63935"/>
                </a:solidFill>
                <a:latin typeface="Heebo"/>
                <a:ea typeface="Heebo"/>
                <a:cs typeface="Heebo"/>
                <a:sym typeface="Heebo"/>
              </a:rPr>
              <a:t>A mesa resolve.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761" y="7983616"/>
            <a:ext cx="3448910" cy="73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9"/>
              </a:lnSpc>
            </a:pPr>
            <a:r>
              <a:rPr lang="en-US" sz="5075" b="true">
                <a:solidFill>
                  <a:srgbClr val="F6F6F6"/>
                </a:solidFill>
                <a:latin typeface="Heebo Bold"/>
                <a:ea typeface="Heebo Bold"/>
                <a:cs typeface="Heebo Bold"/>
                <a:sym typeface="Heebo Bold"/>
              </a:rPr>
              <a:t>SUDO</a:t>
            </a:r>
            <a:r>
              <a:rPr lang="en-US" sz="5075" b="true">
                <a:solidFill>
                  <a:srgbClr val="E63935"/>
                </a:solidFill>
                <a:latin typeface="Heebo Bold"/>
                <a:ea typeface="Heebo Bold"/>
                <a:cs typeface="Heebo Bold"/>
                <a:sym typeface="Heebo Bold"/>
              </a:rPr>
              <a:t>WIN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71418" y="5800634"/>
            <a:ext cx="11216582" cy="4616029"/>
            <a:chOff x="0" y="0"/>
            <a:chExt cx="2954162" cy="12157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4162" cy="1215744"/>
            </a:xfrm>
            <a:custGeom>
              <a:avLst/>
              <a:gdLst/>
              <a:ahLst/>
              <a:cxnLst/>
              <a:rect r="r" b="b" t="t" l="l"/>
              <a:pathLst>
                <a:path h="1215744" w="2954162">
                  <a:moveTo>
                    <a:pt x="0" y="0"/>
                  </a:moveTo>
                  <a:lnTo>
                    <a:pt x="2954162" y="0"/>
                  </a:lnTo>
                  <a:lnTo>
                    <a:pt x="2954162" y="1215744"/>
                  </a:lnTo>
                  <a:lnTo>
                    <a:pt x="0" y="1215744"/>
                  </a:lnTo>
                  <a:close/>
                </a:path>
              </a:pathLst>
            </a:custGeom>
            <a:solidFill>
              <a:srgbClr val="EA36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54162" cy="1263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6566" y="0"/>
            <a:ext cx="10237780" cy="10287000"/>
          </a:xfrm>
          <a:custGeom>
            <a:avLst/>
            <a:gdLst/>
            <a:ahLst/>
            <a:cxnLst/>
            <a:rect r="r" b="b" t="t" l="l"/>
            <a:pathLst>
              <a:path h="10287000" w="10237780">
                <a:moveTo>
                  <a:pt x="0" y="0"/>
                </a:moveTo>
                <a:lnTo>
                  <a:pt x="10237780" y="0"/>
                </a:lnTo>
                <a:lnTo>
                  <a:pt x="102377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78437" y="802025"/>
            <a:ext cx="3744508" cy="3744508"/>
          </a:xfrm>
          <a:custGeom>
            <a:avLst/>
            <a:gdLst/>
            <a:ahLst/>
            <a:cxnLst/>
            <a:rect r="r" b="b" t="t" l="l"/>
            <a:pathLst>
              <a:path h="3744508" w="3744508">
                <a:moveTo>
                  <a:pt x="0" y="0"/>
                </a:moveTo>
                <a:lnTo>
                  <a:pt x="3744508" y="0"/>
                </a:lnTo>
                <a:lnTo>
                  <a:pt x="3744508" y="3744507"/>
                </a:lnTo>
                <a:lnTo>
                  <a:pt x="0" y="3744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48889" y="2005538"/>
            <a:ext cx="7247404" cy="118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8"/>
              </a:lnSpc>
            </a:pPr>
            <a:r>
              <a:rPr lang="en-US" sz="8938" b="true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O 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8889" y="3356998"/>
            <a:ext cx="5925813" cy="118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8"/>
              </a:lnSpc>
            </a:pPr>
            <a:r>
              <a:rPr lang="en-US" sz="8938" b="true">
                <a:solidFill>
                  <a:srgbClr val="EA3636"/>
                </a:solidFill>
                <a:latin typeface="Heebo Bold"/>
                <a:ea typeface="Heebo Bold"/>
                <a:cs typeface="Heebo Bold"/>
                <a:sym typeface="Heebo Bold"/>
              </a:rPr>
              <a:t>DO PEDIDO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8889" y="4914952"/>
            <a:ext cx="5840971" cy="118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8"/>
              </a:lnSpc>
            </a:pPr>
            <a:r>
              <a:rPr lang="en-US" sz="8938" b="true">
                <a:solidFill>
                  <a:srgbClr val="EA3636"/>
                </a:solidFill>
                <a:latin typeface="Heebo Bold"/>
                <a:ea typeface="Heebo Bold"/>
                <a:cs typeface="Heebo Bold"/>
                <a:sym typeface="Heebo Bold"/>
              </a:rPr>
              <a:t>EM GRUPO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29291" y="6249403"/>
            <a:ext cx="5165273" cy="76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000000">
                    <a:alpha val="89804"/>
                  </a:srgbClr>
                </a:solidFill>
                <a:latin typeface="Heebo"/>
                <a:ea typeface="Heebo"/>
                <a:cs typeface="Heebo"/>
                <a:sym typeface="Heebo"/>
              </a:rPr>
              <a:t>Pedir comida em grupo é </a:t>
            </a:r>
            <a:r>
              <a:rPr lang="en-US" sz="2351" b="true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demorado e complicado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46485" y="7481227"/>
            <a:ext cx="6008411" cy="76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000000">
                    <a:alpha val="89804"/>
                  </a:srgbClr>
                </a:solidFill>
                <a:latin typeface="Heebo"/>
                <a:ea typeface="Heebo"/>
                <a:cs typeface="Heebo"/>
                <a:sym typeface="Heebo"/>
              </a:rPr>
              <a:t>Múltiplos pedidos geram </a:t>
            </a:r>
            <a:r>
              <a:rPr lang="en-US" sz="2351" b="true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múltiplas taxas</a:t>
            </a:r>
            <a:r>
              <a:rPr lang="en-US" sz="2351">
                <a:solidFill>
                  <a:srgbClr val="000000">
                    <a:alpha val="89804"/>
                  </a:srgbClr>
                </a:solidFill>
                <a:latin typeface="Heebo"/>
                <a:ea typeface="Heebo"/>
                <a:cs typeface="Heebo"/>
                <a:sym typeface="Heebo"/>
              </a:rPr>
              <a:t> de entrega e deslocamentos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29291" y="8708728"/>
            <a:ext cx="5996216" cy="76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000000">
                    <a:alpha val="89804"/>
                  </a:srgbClr>
                </a:solidFill>
                <a:latin typeface="Heebo"/>
                <a:ea typeface="Heebo"/>
                <a:cs typeface="Heebo"/>
                <a:sym typeface="Heebo"/>
              </a:rPr>
              <a:t>Falta de garantia de </a:t>
            </a:r>
            <a:r>
              <a:rPr lang="en-US" sz="2351" b="true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divisão justa</a:t>
            </a:r>
            <a:r>
              <a:rPr lang="en-US" sz="2351">
                <a:solidFill>
                  <a:srgbClr val="000000">
                    <a:alpha val="89804"/>
                  </a:srgbClr>
                </a:solidFill>
                <a:latin typeface="Heebo"/>
                <a:ea typeface="Heebo"/>
                <a:cs typeface="Heebo"/>
                <a:sym typeface="Heebo"/>
              </a:rPr>
              <a:t> do pagamento e segurança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48601" y="6323557"/>
            <a:ext cx="715079" cy="62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1"/>
              </a:lnSpc>
            </a:pPr>
            <a:r>
              <a:rPr lang="en-US" b="true" sz="4701" spc="94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48601" y="7520978"/>
            <a:ext cx="715079" cy="62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1"/>
              </a:lnSpc>
            </a:pPr>
            <a:r>
              <a:rPr lang="en-US" b="true" sz="4701" spc="94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48601" y="8846839"/>
            <a:ext cx="715079" cy="62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1"/>
              </a:lnSpc>
            </a:pPr>
            <a:r>
              <a:rPr lang="en-US" b="true" sz="4701" spc="94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A36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584406"/>
            <a:ext cx="18288000" cy="3333745"/>
            <a:chOff x="0" y="0"/>
            <a:chExt cx="4816593" cy="878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78024"/>
            </a:xfrm>
            <a:custGeom>
              <a:avLst/>
              <a:gdLst/>
              <a:ahLst/>
              <a:cxnLst/>
              <a:rect r="r" b="b" t="t" l="l"/>
              <a:pathLst>
                <a:path h="87802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78024"/>
                  </a:lnTo>
                  <a:lnTo>
                    <a:pt x="0" y="8780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925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8625" y="4864382"/>
            <a:ext cx="2089547" cy="28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b="true" sz="2387" spc="47">
                <a:solidFill>
                  <a:srgbClr val="F8F8F8"/>
                </a:solidFill>
                <a:latin typeface="Heebo Medium"/>
                <a:ea typeface="Heebo Medium"/>
                <a:cs typeface="Heebo Medium"/>
                <a:sym typeface="Heebo Medium"/>
              </a:rPr>
              <a:t>CRIAR MESA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6574" y="5138034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43580" y="4042296"/>
            <a:ext cx="893455" cy="76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3"/>
              </a:lnSpc>
            </a:pPr>
            <a:r>
              <a:rPr lang="en-US" b="true" sz="5893" spc="117">
                <a:solidFill>
                  <a:srgbClr val="E6352B"/>
                </a:solidFill>
                <a:latin typeface="Heebo Bold"/>
                <a:ea typeface="Heebo Bold"/>
                <a:cs typeface="Heebo Bold"/>
                <a:sym typeface="Heebo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66430" y="4847019"/>
            <a:ext cx="2089547" cy="30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b="true" sz="2254" spc="45">
                <a:solidFill>
                  <a:srgbClr val="F8F8F8"/>
                </a:solidFill>
                <a:latin typeface="Heebo Medium"/>
                <a:ea typeface="Heebo Medium"/>
                <a:cs typeface="Heebo Medium"/>
                <a:sym typeface="Heebo Medium"/>
              </a:rPr>
              <a:t>PREFERÊNCIAS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384440" y="5138034"/>
            <a:ext cx="2406316" cy="437279"/>
          </a:xfrm>
          <a:custGeom>
            <a:avLst/>
            <a:gdLst/>
            <a:ahLst/>
            <a:cxnLst/>
            <a:rect r="r" b="b" t="t" l="l"/>
            <a:pathLst>
              <a:path h="437279" w="2406316">
                <a:moveTo>
                  <a:pt x="0" y="0"/>
                </a:moveTo>
                <a:lnTo>
                  <a:pt x="2406316" y="0"/>
                </a:lnTo>
                <a:lnTo>
                  <a:pt x="240631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82153" y="4042296"/>
            <a:ext cx="891918" cy="76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3"/>
              </a:lnSpc>
            </a:pPr>
            <a:r>
              <a:rPr lang="en-US" b="true" sz="5893" spc="117">
                <a:solidFill>
                  <a:srgbClr val="E6352B"/>
                </a:solidFill>
                <a:latin typeface="Heebo Bold"/>
                <a:ea typeface="Heebo Bold"/>
                <a:cs typeface="Heebo Bold"/>
                <a:sym typeface="Heebo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04234" y="4864382"/>
            <a:ext cx="2089547" cy="28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b="true" sz="2387" spc="47">
                <a:solidFill>
                  <a:srgbClr val="F8F8F8"/>
                </a:solidFill>
                <a:latin typeface="Heebo Medium"/>
                <a:ea typeface="Heebo Medium"/>
                <a:cs typeface="Heebo Medium"/>
                <a:sym typeface="Heebo Medium"/>
              </a:rPr>
              <a:t>INTELIGÊNCIA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998574" y="5138034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433265" y="4033747"/>
            <a:ext cx="879616" cy="77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6"/>
              </a:lnSpc>
            </a:pPr>
            <a:r>
              <a:rPr lang="en-US" b="true" sz="5816" spc="116">
                <a:solidFill>
                  <a:srgbClr val="E6352B"/>
                </a:solidFill>
                <a:latin typeface="Heebo Bold"/>
                <a:ea typeface="Heebo Bold"/>
                <a:cs typeface="Heebo Bold"/>
                <a:sym typeface="Heebo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49195" y="4864382"/>
            <a:ext cx="2089547" cy="28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b="true" sz="2387" spc="47">
                <a:solidFill>
                  <a:srgbClr val="F8F8F8"/>
                </a:solidFill>
                <a:latin typeface="Heebo Medium"/>
                <a:ea typeface="Heebo Medium"/>
                <a:cs typeface="Heebo Medium"/>
                <a:sym typeface="Heebo Medium"/>
              </a:rPr>
              <a:t>ESCOLHA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831464" y="5138034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445598" y="5138034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572921" y="4042784"/>
            <a:ext cx="887305" cy="76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4"/>
              </a:lnSpc>
            </a:pPr>
            <a:r>
              <a:rPr lang="en-US" b="true" sz="5854" spc="117">
                <a:solidFill>
                  <a:srgbClr val="E6352B"/>
                </a:solidFill>
                <a:latin typeface="Heebo Bold"/>
                <a:ea typeface="Heebo Bold"/>
                <a:cs typeface="Heebo Bold"/>
                <a:sym typeface="Heebo Bold"/>
              </a:rPr>
              <a:t>06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92695" y="4847019"/>
            <a:ext cx="2089547" cy="30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b="true" sz="2254" spc="45">
                <a:solidFill>
                  <a:srgbClr val="F8F8F8"/>
                </a:solidFill>
                <a:latin typeface="Heebo Medium"/>
                <a:ea typeface="Heebo Medium"/>
                <a:cs typeface="Heebo Medium"/>
                <a:sym typeface="Heebo Medium"/>
              </a:rPr>
              <a:t>CONFIRMAÇÃO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622220" y="5138034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537656" y="4846176"/>
            <a:ext cx="2089547" cy="30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b="true" sz="2321" spc="46">
                <a:solidFill>
                  <a:srgbClr val="F8F8F8"/>
                </a:solidFill>
                <a:latin typeface="Heebo Medium"/>
                <a:ea typeface="Heebo Medium"/>
                <a:cs typeface="Heebo Medium"/>
                <a:sym typeface="Heebo Medium"/>
              </a:rPr>
              <a:t>PEDIDO ÚNICO 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017598" y="5138034"/>
            <a:ext cx="2406316" cy="437279"/>
          </a:xfrm>
          <a:custGeom>
            <a:avLst/>
            <a:gdLst/>
            <a:ahLst/>
            <a:cxnLst/>
            <a:rect r="r" b="b" t="t" l="l"/>
            <a:pathLst>
              <a:path h="437279" w="2406316">
                <a:moveTo>
                  <a:pt x="0" y="0"/>
                </a:moveTo>
                <a:lnTo>
                  <a:pt x="2406316" y="0"/>
                </a:lnTo>
                <a:lnTo>
                  <a:pt x="240631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77654" y="1010180"/>
            <a:ext cx="9207288" cy="114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b="true" sz="8639" spc="172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NOSSA SOLUÇÃO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6351" y="2374879"/>
            <a:ext cx="8016487" cy="851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663" b="true">
                <a:solidFill>
                  <a:srgbClr val="F8F8F8"/>
                </a:solidFill>
                <a:latin typeface="Heebo Medium"/>
                <a:ea typeface="Heebo Medium"/>
                <a:cs typeface="Heebo Medium"/>
                <a:sym typeface="Heebo Medium"/>
              </a:rPr>
              <a:t>iFood Mesa: agentes de IA que entendem o grupo, encontram as melhores opções e unificam o pedido.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4963" y="4100251"/>
            <a:ext cx="715079" cy="62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1"/>
              </a:lnSpc>
            </a:pPr>
            <a:r>
              <a:rPr lang="en-US" b="true" sz="4701" spc="94">
                <a:solidFill>
                  <a:srgbClr val="E6352B"/>
                </a:solidFill>
                <a:latin typeface="Heebo Bold"/>
                <a:ea typeface="Heebo Bold"/>
                <a:cs typeface="Heebo Bold"/>
                <a:sym typeface="Heebo Bold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47412" y="5621331"/>
            <a:ext cx="1810181" cy="94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7"/>
              </a:lnSpc>
            </a:pPr>
            <a:r>
              <a:rPr lang="en-US" sz="1705" spc="-1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O host cria a mesa virtual e convida participantes.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70431" y="5621331"/>
            <a:ext cx="2039753" cy="94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7"/>
              </a:lnSpc>
            </a:pPr>
            <a:r>
              <a:rPr lang="en-US" sz="1705" spc="-1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Participantes enviam preferências por</a:t>
            </a:r>
          </a:p>
          <a:p>
            <a:pPr algn="ctr">
              <a:lnSpc>
                <a:spcPts val="2557"/>
              </a:lnSpc>
            </a:pPr>
            <a:r>
              <a:rPr lang="en-US" sz="1705" spc="-1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texto ou voz.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33760" y="5621331"/>
            <a:ext cx="1988705" cy="94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7"/>
              </a:lnSpc>
            </a:pPr>
            <a:r>
              <a:rPr lang="en-US" sz="1705" spc="-1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Agente IA identifica intenções e busca</a:t>
            </a:r>
          </a:p>
          <a:p>
            <a:pPr algn="ctr">
              <a:lnSpc>
                <a:spcPts val="2557"/>
              </a:lnSpc>
            </a:pPr>
            <a:r>
              <a:rPr lang="en-US" sz="1705" spc="-1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as melhores opções.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978975" y="5621331"/>
            <a:ext cx="1788197" cy="94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7"/>
              </a:lnSpc>
            </a:pPr>
            <a:r>
              <a:rPr lang="en-US" sz="1705" spc="-1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Sugestões que atendem ao grupo</a:t>
            </a:r>
          </a:p>
          <a:p>
            <a:pPr algn="ctr">
              <a:lnSpc>
                <a:spcPts val="2557"/>
              </a:lnSpc>
            </a:pPr>
            <a:r>
              <a:rPr lang="en-US" sz="1705" spc="-1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são apresentadas.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24885" y="4042296"/>
            <a:ext cx="893455" cy="76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3"/>
              </a:lnSpc>
            </a:pPr>
            <a:r>
              <a:rPr lang="en-US" b="true" sz="5893" spc="117">
                <a:solidFill>
                  <a:srgbClr val="E6352B"/>
                </a:solidFill>
                <a:latin typeface="Heebo Bold"/>
                <a:ea typeface="Heebo Bold"/>
                <a:cs typeface="Heebo Bold"/>
                <a:sym typeface="Heebo Bold"/>
              </a:rPr>
              <a:t>05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530093" y="5622335"/>
            <a:ext cx="1883039" cy="944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6"/>
              </a:lnSpc>
            </a:pPr>
            <a:r>
              <a:rPr lang="en-US" sz="1757" spc="-17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Cupom aplicado automaticamente e divisão dinâmica.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36468" y="5621331"/>
            <a:ext cx="1760210" cy="94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7"/>
              </a:lnSpc>
            </a:pPr>
            <a:r>
              <a:rPr lang="en-US" sz="1705" spc="-1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Pagamento confirmado por</a:t>
            </a:r>
          </a:p>
          <a:p>
            <a:pPr algn="ctr">
              <a:lnSpc>
                <a:spcPts val="2557"/>
              </a:lnSpc>
            </a:pPr>
            <a:r>
              <a:rPr lang="en-US" sz="1705" spc="-1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todos os usuários.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140179" y="4064538"/>
            <a:ext cx="842711" cy="72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6"/>
              </a:lnSpc>
            </a:pPr>
            <a:r>
              <a:rPr lang="en-US" b="true" sz="5546" spc="111">
                <a:solidFill>
                  <a:srgbClr val="E6352B"/>
                </a:solidFill>
                <a:latin typeface="Heebo Bold"/>
                <a:ea typeface="Heebo Bold"/>
                <a:cs typeface="Heebo Bold"/>
                <a:sym typeface="Heebo Bold"/>
              </a:rPr>
              <a:t>07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695509" y="5621331"/>
            <a:ext cx="1732050" cy="94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7"/>
              </a:lnSpc>
            </a:pPr>
            <a:r>
              <a:rPr lang="en-US" sz="1705" spc="-1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Pedido único com</a:t>
            </a:r>
          </a:p>
          <a:p>
            <a:pPr algn="ctr">
              <a:lnSpc>
                <a:spcPts val="2557"/>
              </a:lnSpc>
            </a:pPr>
            <a:r>
              <a:rPr lang="en-US" sz="1705" spc="-1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frete consolidado</a:t>
            </a:r>
          </a:p>
          <a:p>
            <a:pPr algn="ctr">
              <a:lnSpc>
                <a:spcPts val="2557"/>
              </a:lnSpc>
            </a:pPr>
            <a:r>
              <a:rPr lang="en-US" sz="1705" spc="-1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e rastreamento.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447734" y="4864382"/>
            <a:ext cx="2089547" cy="28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b="true" sz="2387" spc="47">
                <a:solidFill>
                  <a:srgbClr val="F8F8F8"/>
                </a:solidFill>
                <a:latin typeface="Heebo Medium"/>
                <a:ea typeface="Heebo Medium"/>
                <a:cs typeface="Heebo Medium"/>
                <a:sym typeface="Heebo Medium"/>
              </a:rPr>
              <a:t>CUPOM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7534138" y="5143500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078179" y="5153450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438169" cy="10287000"/>
          </a:xfrm>
          <a:custGeom>
            <a:avLst/>
            <a:gdLst/>
            <a:ahLst/>
            <a:cxnLst/>
            <a:rect r="r" b="b" t="t" l="l"/>
            <a:pathLst>
              <a:path h="10287000" w="8438169">
                <a:moveTo>
                  <a:pt x="0" y="0"/>
                </a:moveTo>
                <a:lnTo>
                  <a:pt x="8438169" y="0"/>
                </a:lnTo>
                <a:lnTo>
                  <a:pt x="84381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67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38169" y="0"/>
            <a:ext cx="9817790" cy="10287000"/>
            <a:chOff x="0" y="0"/>
            <a:chExt cx="25857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857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85755">
                  <a:moveTo>
                    <a:pt x="0" y="0"/>
                  </a:moveTo>
                  <a:lnTo>
                    <a:pt x="2585755" y="0"/>
                  </a:lnTo>
                  <a:lnTo>
                    <a:pt x="25857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A36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5857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925244" y="634055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51818" y="852695"/>
            <a:ext cx="1323474" cy="1508614"/>
          </a:xfrm>
          <a:custGeom>
            <a:avLst/>
            <a:gdLst/>
            <a:ahLst/>
            <a:cxnLst/>
            <a:rect r="r" b="b" t="t" l="l"/>
            <a:pathLst>
              <a:path h="1508614" w="132347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01866" y="2350377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25244" y="2569017"/>
            <a:ext cx="1968804" cy="1727254"/>
          </a:xfrm>
          <a:custGeom>
            <a:avLst/>
            <a:gdLst/>
            <a:ahLst/>
            <a:cxnLst/>
            <a:rect r="r" b="b" t="t" l="l"/>
            <a:pathLst>
              <a:path h="1727254" w="1968804">
                <a:moveTo>
                  <a:pt x="0" y="0"/>
                </a:moveTo>
                <a:lnTo>
                  <a:pt x="1968804" y="0"/>
                </a:lnTo>
                <a:lnTo>
                  <a:pt x="196880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51818" y="2776725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311040" y="2750046"/>
            <a:ext cx="4775629" cy="133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Entrada multimodal </a:t>
            </a:r>
            <a:r>
              <a:rPr lang="en-US" sz="2759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texto e voz</a:t>
            </a:r>
            <a:r>
              <a:rPr lang="en-US" sz="2759" b="true">
                <a:solidFill>
                  <a:srgbClr val="000000"/>
                </a:solidFill>
                <a:latin typeface="Heebo Medium"/>
                <a:ea typeface="Heebo Medium"/>
                <a:cs typeface="Heebo Medium"/>
                <a:sym typeface="Heebo Medium"/>
              </a:rPr>
              <a:t> </a:t>
            </a:r>
            <a:r>
              <a:rPr lang="en-US" sz="2759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para</a:t>
            </a:r>
            <a:r>
              <a:rPr lang="en-US" sz="2759" b="true">
                <a:solidFill>
                  <a:srgbClr val="000000"/>
                </a:solidFill>
                <a:latin typeface="Heebo Medium"/>
                <a:ea typeface="Heebo Medium"/>
                <a:cs typeface="Heebo Medium"/>
                <a:sym typeface="Heebo Medium"/>
              </a:rPr>
              <a:t> </a:t>
            </a:r>
            <a:r>
              <a:rPr lang="en-US" sz="2759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agilidade e acessibilidade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101866" y="4066699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25244" y="4285339"/>
            <a:ext cx="1968804" cy="1716322"/>
          </a:xfrm>
          <a:custGeom>
            <a:avLst/>
            <a:gdLst/>
            <a:ahLst/>
            <a:cxnLst/>
            <a:rect r="r" b="b" t="t" l="l"/>
            <a:pathLst>
              <a:path h="1716322" w="1968804">
                <a:moveTo>
                  <a:pt x="0" y="0"/>
                </a:moveTo>
                <a:lnTo>
                  <a:pt x="1968804" y="0"/>
                </a:lnTo>
                <a:lnTo>
                  <a:pt x="196880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51818" y="4493047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01866" y="5990729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925244" y="5990729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351818" y="6209369"/>
            <a:ext cx="1323474" cy="1508614"/>
          </a:xfrm>
          <a:custGeom>
            <a:avLst/>
            <a:gdLst/>
            <a:ahLst/>
            <a:cxnLst/>
            <a:rect r="r" b="b" t="t" l="l"/>
            <a:pathLst>
              <a:path h="1508614" w="132347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101866" y="7707051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925244" y="7925691"/>
            <a:ext cx="1968804" cy="1727254"/>
          </a:xfrm>
          <a:custGeom>
            <a:avLst/>
            <a:gdLst/>
            <a:ahLst/>
            <a:cxnLst/>
            <a:rect r="r" b="b" t="t" l="l"/>
            <a:pathLst>
              <a:path h="1727254" w="1968804">
                <a:moveTo>
                  <a:pt x="0" y="0"/>
                </a:moveTo>
                <a:lnTo>
                  <a:pt x="1968804" y="0"/>
                </a:lnTo>
                <a:lnTo>
                  <a:pt x="196880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447475" y="8126141"/>
            <a:ext cx="1132159" cy="1132159"/>
          </a:xfrm>
          <a:custGeom>
            <a:avLst/>
            <a:gdLst/>
            <a:ahLst/>
            <a:cxnLst/>
            <a:rect r="r" b="b" t="t" l="l"/>
            <a:pathLst>
              <a:path h="1132159" w="1132159">
                <a:moveTo>
                  <a:pt x="0" y="0"/>
                </a:moveTo>
                <a:lnTo>
                  <a:pt x="1132160" y="0"/>
                </a:lnTo>
                <a:lnTo>
                  <a:pt x="1132160" y="1132159"/>
                </a:lnTo>
                <a:lnTo>
                  <a:pt x="0" y="113215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30003" y="1764171"/>
            <a:ext cx="7355715" cy="332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9"/>
              </a:lnSpc>
            </a:pPr>
            <a:r>
              <a:rPr lang="en-US" sz="8659" b="true">
                <a:solidFill>
                  <a:srgbClr val="F8F8F8"/>
                </a:solidFill>
                <a:latin typeface="Heebo Ultra-Bold"/>
                <a:ea typeface="Heebo Ultra-Bold"/>
                <a:cs typeface="Heebo Ultra-Bold"/>
                <a:sym typeface="Heebo Ultra-Bold"/>
              </a:rPr>
              <a:t>PROPOSTA</a:t>
            </a:r>
          </a:p>
          <a:p>
            <a:pPr algn="l">
              <a:lnSpc>
                <a:spcPts val="8659"/>
              </a:lnSpc>
            </a:pPr>
            <a:r>
              <a:rPr lang="en-US" sz="8659" b="true">
                <a:solidFill>
                  <a:srgbClr val="F8F8F8"/>
                </a:solidFill>
                <a:latin typeface="Heebo Ultra-Bold"/>
                <a:ea typeface="Heebo Ultra-Bold"/>
                <a:cs typeface="Heebo Ultra-Bold"/>
                <a:sym typeface="Heebo Ultra-Bold"/>
              </a:rPr>
              <a:t>DE VALOR E </a:t>
            </a:r>
            <a:r>
              <a:rPr lang="en-US" sz="8659" b="true">
                <a:solidFill>
                  <a:srgbClr val="E23634"/>
                </a:solidFill>
                <a:latin typeface="Heebo Ultra-Bold"/>
                <a:ea typeface="Heebo Ultra-Bold"/>
                <a:cs typeface="Heebo Ultra-Bold"/>
                <a:sym typeface="Heebo Ultra-Bold"/>
              </a:rPr>
              <a:t>DIFERENCIAIS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6399" y="6376939"/>
            <a:ext cx="6591474" cy="1749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2"/>
              </a:lnSpc>
            </a:pPr>
            <a:r>
              <a:rPr lang="en-US" sz="3671" b="true">
                <a:solidFill>
                  <a:srgbClr val="F8F8F8"/>
                </a:solidFill>
                <a:latin typeface="Heebo Medium"/>
                <a:ea typeface="Heebo Medium"/>
                <a:cs typeface="Heebo Medium"/>
                <a:sym typeface="Heebo Medium"/>
              </a:rPr>
              <a:t>Inovação e inteligência</a:t>
            </a:r>
          </a:p>
          <a:p>
            <a:pPr algn="l">
              <a:lnSpc>
                <a:spcPts val="4772"/>
              </a:lnSpc>
            </a:pPr>
            <a:r>
              <a:rPr lang="en-US" sz="3671" b="true">
                <a:solidFill>
                  <a:srgbClr val="F8F8F8"/>
                </a:solidFill>
                <a:latin typeface="Heebo Medium"/>
                <a:ea typeface="Heebo Medium"/>
                <a:cs typeface="Heebo Medium"/>
                <a:sym typeface="Heebo Medium"/>
              </a:rPr>
              <a:t>para </a:t>
            </a:r>
            <a:r>
              <a:rPr lang="en-US" sz="3671" b="true">
                <a:solidFill>
                  <a:srgbClr val="E23634"/>
                </a:solidFill>
                <a:latin typeface="Heebo Bold"/>
                <a:ea typeface="Heebo Bold"/>
                <a:cs typeface="Heebo Bold"/>
                <a:sym typeface="Heebo Bold"/>
              </a:rPr>
              <a:t>transformar</a:t>
            </a:r>
            <a:r>
              <a:rPr lang="en-US" sz="3671" b="true">
                <a:solidFill>
                  <a:srgbClr val="F8F8F8"/>
                </a:solidFill>
                <a:latin typeface="Heebo Medium"/>
                <a:ea typeface="Heebo Medium"/>
                <a:cs typeface="Heebo Medium"/>
                <a:sym typeface="Heebo Medium"/>
              </a:rPr>
              <a:t> a experiência de </a:t>
            </a:r>
            <a:r>
              <a:rPr lang="en-US" sz="3671" b="true">
                <a:solidFill>
                  <a:srgbClr val="E23634"/>
                </a:solidFill>
                <a:latin typeface="Heebo Bold"/>
                <a:ea typeface="Heebo Bold"/>
                <a:cs typeface="Heebo Bold"/>
                <a:sym typeface="Heebo Bold"/>
              </a:rPr>
              <a:t>comer junto</a:t>
            </a:r>
            <a:r>
              <a:rPr lang="en-US" sz="3671" b="true">
                <a:solidFill>
                  <a:srgbClr val="F8F8F8"/>
                </a:solidFill>
                <a:latin typeface="Heebo Medium"/>
                <a:ea typeface="Heebo Medium"/>
                <a:cs typeface="Heebo Medium"/>
                <a:sym typeface="Heebo Medium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29625" y="887174"/>
            <a:ext cx="5862426" cy="141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Interface agentic </a:t>
            </a:r>
            <a:r>
              <a:rPr lang="en-US" sz="2896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multiplayer</a:t>
            </a:r>
            <a:r>
              <a:rPr lang="en-US" sz="2896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289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com chat colaborativo em tempo real e </a:t>
            </a:r>
            <a:r>
              <a:rPr lang="en-US" sz="2896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atendimento paralelo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04427" y="4467721"/>
            <a:ext cx="5512893" cy="133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Motor de </a:t>
            </a:r>
            <a:r>
              <a:rPr lang="en-US" sz="2759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interseção</a:t>
            </a:r>
            <a:r>
              <a:rPr lang="en-US" sz="2759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de restrições</a:t>
            </a:r>
          </a:p>
          <a:p>
            <a:pPr algn="l">
              <a:lnSpc>
                <a:spcPts val="3584"/>
              </a:lnSpc>
            </a:pPr>
            <a:r>
              <a:rPr lang="en-US" sz="2759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para </a:t>
            </a:r>
            <a:r>
              <a:rPr lang="en-US" sz="2759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máxima satisfação</a:t>
            </a:r>
            <a:r>
              <a:rPr lang="en-US" sz="2759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do grupo</a:t>
            </a:r>
          </a:p>
          <a:p>
            <a:pPr algn="l">
              <a:lnSpc>
                <a:spcPts val="3587"/>
              </a:lnSpc>
            </a:pPr>
            <a:r>
              <a:rPr lang="en-US" sz="2759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e </a:t>
            </a:r>
            <a:r>
              <a:rPr lang="en-US" sz="2759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menor tempo de decisão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21406" y="6263895"/>
            <a:ext cx="5678934" cy="141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Divisão </a:t>
            </a:r>
            <a:r>
              <a:rPr lang="en-US" sz="2896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justa e dinâmica</a:t>
            </a:r>
            <a:r>
              <a:rPr lang="en-US" sz="289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da conta</a:t>
            </a:r>
          </a:p>
          <a:p>
            <a:pPr algn="l">
              <a:lnSpc>
                <a:spcPts val="3764"/>
              </a:lnSpc>
            </a:pPr>
            <a:r>
              <a:rPr lang="en-US" sz="289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com </a:t>
            </a:r>
            <a:r>
              <a:rPr lang="en-US" sz="2896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checkout facilitado</a:t>
            </a:r>
          </a:p>
          <a:p>
            <a:pPr algn="l">
              <a:lnSpc>
                <a:spcPts val="3764"/>
              </a:lnSpc>
            </a:pPr>
            <a:r>
              <a:rPr lang="en-US" sz="289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e confirmação prévia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217371" y="8131439"/>
            <a:ext cx="6082395" cy="141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Redução do custo de fretes </a:t>
            </a:r>
            <a:r>
              <a:rPr lang="en-US" sz="289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atendendo usuários sensíveis a preço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45330" y="3214004"/>
            <a:ext cx="229694" cy="1289974"/>
          </a:xfrm>
          <a:custGeom>
            <a:avLst/>
            <a:gdLst/>
            <a:ahLst/>
            <a:cxnLst/>
            <a:rect r="r" b="b" t="t" l="l"/>
            <a:pathLst>
              <a:path h="1289974" w="229694">
                <a:moveTo>
                  <a:pt x="0" y="0"/>
                </a:moveTo>
                <a:lnTo>
                  <a:pt x="229694" y="0"/>
                </a:lnTo>
                <a:lnTo>
                  <a:pt x="22969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08086" y="3421712"/>
            <a:ext cx="667206" cy="874559"/>
          </a:xfrm>
          <a:custGeom>
            <a:avLst/>
            <a:gdLst/>
            <a:ahLst/>
            <a:cxnLst/>
            <a:rect r="r" b="b" t="t" l="l"/>
            <a:pathLst>
              <a:path h="874559" w="667206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2842" y="4493047"/>
            <a:ext cx="9592450" cy="229572"/>
          </a:xfrm>
          <a:custGeom>
            <a:avLst/>
            <a:gdLst/>
            <a:ahLst/>
            <a:cxnLst/>
            <a:rect r="r" b="b" t="t" l="l"/>
            <a:pathLst>
              <a:path h="229572" w="9592450">
                <a:moveTo>
                  <a:pt x="0" y="0"/>
                </a:moveTo>
                <a:lnTo>
                  <a:pt x="9592450" y="0"/>
                </a:lnTo>
                <a:lnTo>
                  <a:pt x="9592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330" y="4711687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08086" y="4711687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2842" y="5783021"/>
            <a:ext cx="9592450" cy="218640"/>
          </a:xfrm>
          <a:custGeom>
            <a:avLst/>
            <a:gdLst/>
            <a:ahLst/>
            <a:cxnLst/>
            <a:rect r="r" b="b" t="t" l="l"/>
            <a:pathLst>
              <a:path h="218640" w="9592450">
                <a:moveTo>
                  <a:pt x="0" y="0"/>
                </a:moveTo>
                <a:lnTo>
                  <a:pt x="9592450" y="0"/>
                </a:lnTo>
                <a:lnTo>
                  <a:pt x="959245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5330" y="5990729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08086" y="620936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2842" y="7062064"/>
            <a:ext cx="9592450" cy="229572"/>
          </a:xfrm>
          <a:custGeom>
            <a:avLst/>
            <a:gdLst/>
            <a:ahLst/>
            <a:cxnLst/>
            <a:rect r="r" b="b" t="t" l="l"/>
            <a:pathLst>
              <a:path h="229572" w="9592450">
                <a:moveTo>
                  <a:pt x="0" y="0"/>
                </a:moveTo>
                <a:lnTo>
                  <a:pt x="9592450" y="0"/>
                </a:lnTo>
                <a:lnTo>
                  <a:pt x="9592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5330" y="7280704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08086" y="7499343"/>
            <a:ext cx="667206" cy="644987"/>
          </a:xfrm>
          <a:custGeom>
            <a:avLst/>
            <a:gdLst/>
            <a:ahLst/>
            <a:cxnLst/>
            <a:rect r="r" b="b" t="t" l="l"/>
            <a:pathLst>
              <a:path h="644987" w="667206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2842" y="8352038"/>
            <a:ext cx="9592450" cy="229572"/>
          </a:xfrm>
          <a:custGeom>
            <a:avLst/>
            <a:gdLst/>
            <a:ahLst/>
            <a:cxnLst/>
            <a:rect r="r" b="b" t="t" l="l"/>
            <a:pathLst>
              <a:path h="229572" w="9592450">
                <a:moveTo>
                  <a:pt x="0" y="0"/>
                </a:moveTo>
                <a:lnTo>
                  <a:pt x="9592450" y="0"/>
                </a:lnTo>
                <a:lnTo>
                  <a:pt x="9592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45330" y="8570678"/>
            <a:ext cx="229694" cy="1289974"/>
          </a:xfrm>
          <a:custGeom>
            <a:avLst/>
            <a:gdLst/>
            <a:ahLst/>
            <a:cxnLst/>
            <a:rect r="r" b="b" t="t" l="l"/>
            <a:pathLst>
              <a:path h="1289974" w="22969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008086" y="8778386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90741" y="8845979"/>
            <a:ext cx="722745" cy="824642"/>
          </a:xfrm>
          <a:custGeom>
            <a:avLst/>
            <a:gdLst/>
            <a:ahLst/>
            <a:cxnLst/>
            <a:rect r="r" b="b" t="t" l="l"/>
            <a:pathLst>
              <a:path h="824642" w="722745">
                <a:moveTo>
                  <a:pt x="0" y="0"/>
                </a:moveTo>
                <a:lnTo>
                  <a:pt x="722745" y="0"/>
                </a:lnTo>
                <a:lnTo>
                  <a:pt x="722745" y="824642"/>
                </a:lnTo>
                <a:lnTo>
                  <a:pt x="0" y="82464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-14098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013939" y="2634054"/>
            <a:ext cx="5245361" cy="5245361"/>
          </a:xfrm>
          <a:custGeom>
            <a:avLst/>
            <a:gdLst/>
            <a:ahLst/>
            <a:cxnLst/>
            <a:rect r="r" b="b" t="t" l="l"/>
            <a:pathLst>
              <a:path h="5245361" w="5245361">
                <a:moveTo>
                  <a:pt x="0" y="0"/>
                </a:moveTo>
                <a:lnTo>
                  <a:pt x="5245361" y="0"/>
                </a:lnTo>
                <a:lnTo>
                  <a:pt x="5245361" y="5245362"/>
                </a:lnTo>
                <a:lnTo>
                  <a:pt x="0" y="5245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12000" y="965014"/>
            <a:ext cx="8451602" cy="88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2"/>
              </a:lnSpc>
            </a:pPr>
            <a:r>
              <a:rPr lang="en-US" sz="6612" b="true">
                <a:solidFill>
                  <a:srgbClr val="F6F6F6"/>
                </a:solidFill>
                <a:latin typeface="Heebo Bold"/>
                <a:ea typeface="Heebo Bold"/>
                <a:cs typeface="Heebo Bold"/>
                <a:sym typeface="Heebo Bold"/>
              </a:rPr>
              <a:t>MODELO DE NEGÓCIO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6968" y="1937806"/>
            <a:ext cx="8954719" cy="87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2"/>
              </a:lnSpc>
            </a:pPr>
            <a:r>
              <a:rPr lang="en-US" sz="6662" b="true">
                <a:solidFill>
                  <a:srgbClr val="D82828"/>
                </a:solidFill>
                <a:latin typeface="Heebo Bold"/>
                <a:ea typeface="Heebo Bold"/>
                <a:cs typeface="Heebo Bold"/>
                <a:sym typeface="Heebo Bold"/>
              </a:rPr>
              <a:t>E IMPACTO ESPERADO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1974" y="3612041"/>
            <a:ext cx="3674462" cy="72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5554" b="true">
                <a:solidFill>
                  <a:srgbClr val="D82828"/>
                </a:solidFill>
                <a:latin typeface="Heebo Bold"/>
                <a:ea typeface="Heebo Bold"/>
                <a:cs typeface="Heebo Bold"/>
                <a:sym typeface="Heebo Bold"/>
              </a:rPr>
              <a:t>R$90-120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53010" y="3263794"/>
            <a:ext cx="5317141" cy="112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true">
                <a:solidFill>
                  <a:srgbClr val="F6F6F6"/>
                </a:solidFill>
                <a:latin typeface="Heebo Bold"/>
                <a:ea typeface="Heebo Bold"/>
                <a:cs typeface="Heebo Bold"/>
                <a:sym typeface="Heebo Bold"/>
              </a:rPr>
              <a:t>Aumento do Ticket Médio (AOV)</a:t>
            </a:r>
          </a:p>
          <a:p>
            <a:pPr algn="l">
              <a:lnSpc>
                <a:spcPts val="3090"/>
              </a:lnSpc>
            </a:pPr>
            <a:r>
              <a:rPr lang="en-US" sz="2575">
                <a:solidFill>
                  <a:srgbClr val="F6F6F6"/>
                </a:solidFill>
                <a:latin typeface="Heebo"/>
                <a:ea typeface="Heebo"/>
                <a:cs typeface="Heebo"/>
                <a:sym typeface="Heebo"/>
              </a:rPr>
              <a:t>por exemplo, mesa de 3–4 pessoas e valor individual de R$ 30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4976" y="4952455"/>
            <a:ext cx="2452512" cy="72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5554" b="true">
                <a:solidFill>
                  <a:srgbClr val="D82828"/>
                </a:solidFill>
                <a:latin typeface="Heebo Bold"/>
                <a:ea typeface="Heebo Bold"/>
                <a:cs typeface="Heebo Bold"/>
                <a:sym typeface="Heebo Bold"/>
              </a:rPr>
              <a:t>67-75%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53010" y="4830554"/>
            <a:ext cx="5355076" cy="78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true">
                <a:solidFill>
                  <a:srgbClr val="F6F6F6"/>
                </a:solidFill>
                <a:latin typeface="Heebo Bold"/>
                <a:ea typeface="Heebo Bold"/>
                <a:cs typeface="Heebo Bold"/>
                <a:sym typeface="Heebo Bold"/>
              </a:rPr>
              <a:t>Eficiência do Custo Logístico</a:t>
            </a:r>
          </a:p>
          <a:p>
            <a:pPr algn="l">
              <a:lnSpc>
                <a:spcPts val="3090"/>
              </a:lnSpc>
            </a:pPr>
            <a:r>
              <a:rPr lang="en-US" sz="2575">
                <a:solidFill>
                  <a:srgbClr val="F6F6F6"/>
                </a:solidFill>
                <a:latin typeface="Heebo"/>
                <a:ea typeface="Heebo"/>
                <a:cs typeface="Heebo"/>
                <a:sym typeface="Heebo"/>
              </a:rPr>
              <a:t>por refeição via consolidação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4976" y="6262748"/>
            <a:ext cx="1374276" cy="72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5554" b="true">
                <a:solidFill>
                  <a:srgbClr val="D82828"/>
                </a:solidFill>
                <a:latin typeface="Heebo Bold"/>
                <a:ea typeface="Heebo Bold"/>
                <a:cs typeface="Heebo Bold"/>
                <a:sym typeface="Heebo Bold"/>
              </a:rPr>
              <a:t>12%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699935" y="6209369"/>
            <a:ext cx="4861752" cy="78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true">
                <a:solidFill>
                  <a:srgbClr val="F6F6F6"/>
                </a:solidFill>
                <a:latin typeface="Heebo Bold"/>
                <a:ea typeface="Heebo Bold"/>
                <a:cs typeface="Heebo Bold"/>
                <a:sym typeface="Heebo Bold"/>
              </a:rPr>
              <a:t>Taxa de Conversão de Checkout</a:t>
            </a:r>
          </a:p>
          <a:p>
            <a:pPr algn="l">
              <a:lnSpc>
                <a:spcPts val="3090"/>
              </a:lnSpc>
            </a:pPr>
            <a:r>
              <a:rPr lang="en-US" sz="2575">
                <a:solidFill>
                  <a:srgbClr val="F6F6F6"/>
                </a:solidFill>
                <a:latin typeface="Heebo"/>
                <a:ea typeface="Heebo"/>
                <a:cs typeface="Heebo"/>
                <a:sym typeface="Heebo"/>
              </a:rPr>
              <a:t>segundo benchmarks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5361" y="7573042"/>
            <a:ext cx="2598044" cy="72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5554" b="true">
                <a:solidFill>
                  <a:srgbClr val="D82828"/>
                </a:solidFill>
                <a:latin typeface="Heebo Bold"/>
                <a:ea typeface="Heebo Bold"/>
                <a:cs typeface="Heebo Bold"/>
                <a:sym typeface="Heebo Bold"/>
              </a:rPr>
              <a:t>&lt; 2 MIN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699935" y="7482135"/>
            <a:ext cx="4684434" cy="78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true">
                <a:solidFill>
                  <a:srgbClr val="F6F6F6"/>
                </a:solidFill>
                <a:latin typeface="Heebo Bold"/>
                <a:ea typeface="Heebo Bold"/>
                <a:cs typeface="Heebo Bold"/>
                <a:sym typeface="Heebo Bold"/>
              </a:rPr>
              <a:t>Group Time-to-Order (GTTO) </a:t>
            </a:r>
            <a:r>
              <a:rPr lang="en-US" sz="2575">
                <a:solidFill>
                  <a:srgbClr val="F6F6F6"/>
                </a:solidFill>
                <a:latin typeface="Heebo"/>
                <a:ea typeface="Heebo"/>
                <a:cs typeface="Heebo"/>
                <a:sym typeface="Heebo"/>
              </a:rPr>
              <a:t>de 15 minutos para menos de 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53010" y="8889636"/>
            <a:ext cx="5103331" cy="78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true">
                <a:solidFill>
                  <a:srgbClr val="F6F6F6"/>
                </a:solidFill>
                <a:latin typeface="Heebo Bold"/>
                <a:ea typeface="Heebo Bold"/>
                <a:cs typeface="Heebo Bold"/>
                <a:sym typeface="Heebo Bold"/>
              </a:rPr>
              <a:t>Crescimento Orgânico </a:t>
            </a:r>
            <a:r>
              <a:rPr lang="en-US" sz="2575">
                <a:solidFill>
                  <a:srgbClr val="F6F6F6"/>
                </a:solidFill>
                <a:latin typeface="Heebo"/>
                <a:ea typeface="Heebo"/>
                <a:cs typeface="Heebo"/>
                <a:sym typeface="Heebo"/>
              </a:rPr>
              <a:t>do número de usuários com fator-k alcançável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80713" y="2596133"/>
            <a:ext cx="10322785" cy="6748521"/>
          </a:xfrm>
          <a:custGeom>
            <a:avLst/>
            <a:gdLst/>
            <a:ahLst/>
            <a:cxnLst/>
            <a:rect r="r" b="b" t="t" l="l"/>
            <a:pathLst>
              <a:path h="6748521" w="10322785">
                <a:moveTo>
                  <a:pt x="0" y="0"/>
                </a:moveTo>
                <a:lnTo>
                  <a:pt x="10322786" y="0"/>
                </a:lnTo>
                <a:lnTo>
                  <a:pt x="10322786" y="6748520"/>
                </a:lnTo>
                <a:lnTo>
                  <a:pt x="0" y="6748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3438" y="338472"/>
            <a:ext cx="8451602" cy="88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2"/>
              </a:lnSpc>
            </a:pPr>
            <a:r>
              <a:rPr lang="en-US" sz="6612" b="true">
                <a:solidFill>
                  <a:srgbClr val="F6F6F6"/>
                </a:solidFill>
                <a:latin typeface="Heebo Bold"/>
                <a:ea typeface="Heebo Bold"/>
                <a:cs typeface="Heebo Bold"/>
                <a:sym typeface="Heebo Bold"/>
              </a:rPr>
              <a:t>ARQUITETURA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3438" y="1229645"/>
            <a:ext cx="8954719" cy="87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2"/>
              </a:lnSpc>
            </a:pPr>
            <a:r>
              <a:rPr lang="en-US" sz="6662" b="true">
                <a:solidFill>
                  <a:srgbClr val="D82828"/>
                </a:solidFill>
                <a:latin typeface="Heebo Bold"/>
                <a:ea typeface="Heebo Bold"/>
                <a:cs typeface="Heebo Bold"/>
                <a:sym typeface="Heebo Bold"/>
              </a:rPr>
              <a:t>DO PROJETO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59668" y="5907025"/>
            <a:ext cx="1312536" cy="448211"/>
          </a:xfrm>
          <a:custGeom>
            <a:avLst/>
            <a:gdLst/>
            <a:ahLst/>
            <a:cxnLst/>
            <a:rect r="r" b="b" t="t" l="l"/>
            <a:pathLst>
              <a:path h="448211" w="1312536">
                <a:moveTo>
                  <a:pt x="0" y="0"/>
                </a:moveTo>
                <a:lnTo>
                  <a:pt x="1312536" y="0"/>
                </a:lnTo>
                <a:lnTo>
                  <a:pt x="131253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22882" y="3003962"/>
            <a:ext cx="3475502" cy="6254338"/>
          </a:xfrm>
          <a:custGeom>
            <a:avLst/>
            <a:gdLst/>
            <a:ahLst/>
            <a:cxnLst/>
            <a:rect r="r" b="b" t="t" l="l"/>
            <a:pathLst>
              <a:path h="6254338" w="3475502">
                <a:moveTo>
                  <a:pt x="0" y="0"/>
                </a:moveTo>
                <a:lnTo>
                  <a:pt x="3475502" y="0"/>
                </a:lnTo>
                <a:lnTo>
                  <a:pt x="3475502" y="6254338"/>
                </a:lnTo>
                <a:lnTo>
                  <a:pt x="0" y="6254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33489" y="3003962"/>
            <a:ext cx="3447704" cy="6254338"/>
          </a:xfrm>
          <a:custGeom>
            <a:avLst/>
            <a:gdLst/>
            <a:ahLst/>
            <a:cxnLst/>
            <a:rect r="r" b="b" t="t" l="l"/>
            <a:pathLst>
              <a:path h="6254338" w="3447704">
                <a:moveTo>
                  <a:pt x="0" y="0"/>
                </a:moveTo>
                <a:lnTo>
                  <a:pt x="3447704" y="0"/>
                </a:lnTo>
                <a:lnTo>
                  <a:pt x="3447704" y="6254338"/>
                </a:lnTo>
                <a:lnTo>
                  <a:pt x="0" y="625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85592" y="3003962"/>
            <a:ext cx="3444191" cy="6254338"/>
          </a:xfrm>
          <a:custGeom>
            <a:avLst/>
            <a:gdLst/>
            <a:ahLst/>
            <a:cxnLst/>
            <a:rect r="r" b="b" t="t" l="l"/>
            <a:pathLst>
              <a:path h="6254338" w="3444191">
                <a:moveTo>
                  <a:pt x="0" y="0"/>
                </a:moveTo>
                <a:lnTo>
                  <a:pt x="3444191" y="0"/>
                </a:lnTo>
                <a:lnTo>
                  <a:pt x="3444191" y="6254338"/>
                </a:lnTo>
                <a:lnTo>
                  <a:pt x="0" y="62543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9183" y="509718"/>
            <a:ext cx="10054314" cy="86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9"/>
              </a:lnSpc>
            </a:pPr>
            <a:r>
              <a:rPr lang="en-US" sz="6699" b="true">
                <a:solidFill>
                  <a:srgbClr val="F6F6F6"/>
                </a:solidFill>
                <a:latin typeface="Heebo Bold"/>
                <a:ea typeface="Heebo Bold"/>
                <a:cs typeface="Heebo Bold"/>
                <a:sym typeface="Heebo Bold"/>
              </a:rPr>
              <a:t>DEMONSTRAÇÃO VISUAL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3325" y="1453962"/>
            <a:ext cx="7640164" cy="89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3"/>
              </a:lnSpc>
            </a:pPr>
            <a:r>
              <a:rPr lang="en-US" sz="6793" b="true">
                <a:solidFill>
                  <a:srgbClr val="E43532"/>
                </a:solidFill>
                <a:latin typeface="Heebo Bold"/>
                <a:ea typeface="Heebo Bold"/>
                <a:cs typeface="Heebo Bold"/>
                <a:sym typeface="Heebo Bold"/>
              </a:rPr>
              <a:t>VERSÃO MOBILE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9727" y="2469708"/>
            <a:ext cx="10929938" cy="28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>
                <a:solidFill>
                  <a:srgbClr val="F6F6F6"/>
                </a:solidFill>
                <a:latin typeface="Heebo"/>
                <a:ea typeface="Heebo"/>
                <a:cs typeface="Heebo"/>
                <a:sym typeface="Heebo"/>
              </a:rPr>
              <a:t>Veja como o iFood Mesa conecta, conversa e fecha o pedido em grupo com IA.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3727" y="3713714"/>
            <a:ext cx="599949" cy="51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4056" b="true">
                <a:solidFill>
                  <a:srgbClr val="E43532"/>
                </a:solidFill>
                <a:latin typeface="Heebo Bold"/>
                <a:ea typeface="Heebo Bold"/>
                <a:cs typeface="Heebo Bold"/>
                <a:sym typeface="Heebo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5997" y="4466079"/>
            <a:ext cx="1372914" cy="119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F6F6F6"/>
                </a:solidFill>
                <a:latin typeface="Heebo"/>
                <a:ea typeface="Heebo"/>
                <a:cs typeface="Heebo"/>
                <a:sym typeface="Heebo"/>
              </a:rPr>
              <a:t>Entre na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F6F6F6"/>
                </a:solidFill>
                <a:latin typeface="Heebo"/>
                <a:ea typeface="Heebo"/>
                <a:cs typeface="Heebo"/>
                <a:sym typeface="Heebo"/>
              </a:rPr>
              <a:t>mesa virtual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F6F6F6"/>
                </a:solidFill>
                <a:latin typeface="Heebo"/>
                <a:ea typeface="Heebo"/>
                <a:cs typeface="Heebo"/>
                <a:sym typeface="Heebo"/>
              </a:rPr>
              <a:t>com código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F6F6F6"/>
                </a:solidFill>
                <a:latin typeface="Heebo"/>
                <a:ea typeface="Heebo"/>
                <a:cs typeface="Heebo"/>
                <a:sym typeface="Heebo"/>
              </a:rPr>
              <a:t>ou link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07499" y="3638089"/>
            <a:ext cx="756341" cy="677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9"/>
              </a:lnSpc>
            </a:pPr>
            <a:r>
              <a:rPr lang="en-US" sz="5139" b="true">
                <a:solidFill>
                  <a:srgbClr val="E43532"/>
                </a:solidFill>
                <a:latin typeface="Heebo Bold"/>
                <a:ea typeface="Heebo Bold"/>
                <a:cs typeface="Heebo Bold"/>
                <a:sym typeface="Heebo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97447" y="4466079"/>
            <a:ext cx="1761586" cy="119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F6F6F6"/>
                </a:solidFill>
                <a:latin typeface="Heebo"/>
                <a:ea typeface="Heebo"/>
                <a:cs typeface="Heebo"/>
                <a:sym typeface="Heebo"/>
              </a:rPr>
              <a:t>Conversem em tempo real com mensagens de texto e voz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243168" y="5907025"/>
            <a:ext cx="1312536" cy="448211"/>
          </a:xfrm>
          <a:custGeom>
            <a:avLst/>
            <a:gdLst/>
            <a:ahLst/>
            <a:cxnLst/>
            <a:rect r="r" b="b" t="t" l="l"/>
            <a:pathLst>
              <a:path h="448211" w="1312536">
                <a:moveTo>
                  <a:pt x="0" y="0"/>
                </a:moveTo>
                <a:lnTo>
                  <a:pt x="1312536" y="0"/>
                </a:lnTo>
                <a:lnTo>
                  <a:pt x="131253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081243" y="4466079"/>
            <a:ext cx="1761586" cy="119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F6F6F6"/>
                </a:solidFill>
                <a:latin typeface="Heebo"/>
                <a:ea typeface="Heebo"/>
                <a:cs typeface="Heebo"/>
                <a:sym typeface="Heebo"/>
              </a:rPr>
              <a:t>Ache opções que satisfaçam a todos do grupo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0768" y="3638089"/>
            <a:ext cx="756341" cy="677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9"/>
              </a:lnSpc>
            </a:pPr>
            <a:r>
              <a:rPr lang="en-US" sz="5139" b="true">
                <a:solidFill>
                  <a:srgbClr val="E43532"/>
                </a:solidFill>
                <a:latin typeface="Heebo Bold"/>
                <a:ea typeface="Heebo Bold"/>
                <a:cs typeface="Heebo Bold"/>
                <a:sym typeface="Heebo Bold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22213" y="0"/>
            <a:ext cx="14612151" cy="10959114"/>
            <a:chOff x="0" y="0"/>
            <a:chExt cx="812800" cy="609600"/>
          </a:xfrm>
        </p:grpSpPr>
        <p:sp>
          <p:nvSpPr>
            <p:cNvPr name="Freeform 6" id="6">
              <a:hlinkClick r:id="rId2" tooltip="https://www.google.com/url?sa=t&amp;source=web&amp;rct=j&amp;url=https%3A%2F%2Fimagensfree.com.br%2Ficone-ifood%2F&amp;ved=0CBcQjRxqFwoTCNDnttXCw5cDFQAAAAAdAAAAABA4&amp;opi=89978449"/>
            </p:cNvPr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639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609600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2517280" y="2504050"/>
            <a:ext cx="13416702" cy="7546895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36021" y="364010"/>
            <a:ext cx="10054314" cy="86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9"/>
              </a:lnSpc>
            </a:pPr>
            <a:r>
              <a:rPr lang="en-US" sz="6699" b="true">
                <a:solidFill>
                  <a:srgbClr val="F6F6F6"/>
                </a:solidFill>
                <a:latin typeface="Heebo Bold"/>
                <a:ea typeface="Heebo Bold"/>
                <a:cs typeface="Heebo Bold"/>
                <a:sym typeface="Heebo Bold"/>
              </a:rPr>
              <a:t>DEMONSTRAÇÃO VISUAL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3325" y="1453962"/>
            <a:ext cx="7640164" cy="89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3"/>
              </a:lnSpc>
            </a:pPr>
            <a:r>
              <a:rPr lang="en-US" sz="6793" b="true">
                <a:solidFill>
                  <a:srgbClr val="E43532"/>
                </a:solidFill>
                <a:latin typeface="Heebo Bold"/>
                <a:ea typeface="Heebo Bold"/>
                <a:cs typeface="Heebo Bold"/>
                <a:sym typeface="Heebo Bold"/>
              </a:rPr>
              <a:t>VERSÃO DESKTOP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A36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20844" y="7000498"/>
            <a:ext cx="2893193" cy="289319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930163" y="6838673"/>
            <a:ext cx="3055018" cy="3055018"/>
          </a:xfrm>
          <a:custGeom>
            <a:avLst/>
            <a:gdLst/>
            <a:ahLst/>
            <a:cxnLst/>
            <a:rect r="r" b="b" t="t" l="l"/>
            <a:pathLst>
              <a:path h="3055018" w="3055018">
                <a:moveTo>
                  <a:pt x="0" y="0"/>
                </a:moveTo>
                <a:lnTo>
                  <a:pt x="3055018" y="0"/>
                </a:lnTo>
                <a:lnTo>
                  <a:pt x="3055018" y="3055018"/>
                </a:lnTo>
                <a:lnTo>
                  <a:pt x="0" y="3055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79209" y="1596960"/>
            <a:ext cx="2915049" cy="291504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813086" y="1596960"/>
            <a:ext cx="2915049" cy="291504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9551" t="0" r="-4054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721367" y="1596960"/>
            <a:ext cx="2915049" cy="29150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629648" y="1596960"/>
            <a:ext cx="2915049" cy="291504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6625" r="0" b="-1662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743303" y="4788725"/>
            <a:ext cx="3186860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Luis Henrique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13086" y="4686730"/>
            <a:ext cx="3186860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Gabriel</a:t>
            </a:r>
          </a:p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Demba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85461" y="4788725"/>
            <a:ext cx="3186860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João Pedro</a:t>
            </a:r>
          </a:p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93742" y="4788725"/>
            <a:ext cx="3186860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Arthur</a:t>
            </a:r>
          </a:p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Martins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DAHYW0ccL0w</dc:identifier>
  <dcterms:modified xsi:type="dcterms:W3CDTF">2011-08-01T06:04:30Z</dcterms:modified>
  <cp:revision>1</cp:revision>
  <dc:title>Pitch iFood Mesa</dc:title>
</cp:coreProperties>
</file>